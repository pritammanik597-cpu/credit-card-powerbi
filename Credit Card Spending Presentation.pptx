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58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6537960"/>
            <a:ext cx="11384280" cy="18288"/>
          </a:xfrm>
          <a:prstGeom prst="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3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5577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8FAFC"/>
                </a:solidFill>
                <a:latin typeface="Aptos Display"/>
              </a:rPr>
              <a:t>Credit Card Spending</a:t>
            </a:r>
          </a:p>
          <a:p>
            <a:r>
              <a:rPr sz="4200" b="1">
                <a:solidFill>
                  <a:srgbClr val="F8FAFC"/>
                </a:solidFill>
                <a:latin typeface="Aptos Display"/>
              </a:rPr>
              <a:t>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069080"/>
            <a:ext cx="1645920" cy="86868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7512" y="4178808"/>
            <a:ext cx="73152" cy="649224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421538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750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8172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069080"/>
            <a:ext cx="1783080" cy="86868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496312" y="4178808"/>
            <a:ext cx="73152" cy="649224"/>
          </a:xfrm>
          <a:prstGeom prst="round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79191" y="42153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₹67.79L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46817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Total Spend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69080"/>
            <a:ext cx="1645920" cy="86868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62272" y="4178808"/>
            <a:ext cx="73152" cy="649224"/>
          </a:xfrm>
          <a:prstGeom prst="round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42245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ptos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6451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19">
                <a:solidFill>
                  <a:srgbClr val="B8C7D9"/>
                </a:solidFill>
                <a:latin typeface="Aptos"/>
              </a:rPr>
              <a:t>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56248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8C7D9"/>
                </a:solidFill>
                <a:latin typeface="Aptos"/>
              </a:defRPr>
            </a:pPr>
            <a:r>
              <a:t>Synthetic credit card transactions | Generated for analysis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601200" y="-320040"/>
            <a:ext cx="2926080" cy="1920240"/>
          </a:xfrm>
          <a:prstGeom prst="parallelogram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594360" y="5806440"/>
            <a:ext cx="3749039" cy="155448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37960"/>
            <a:ext cx="11384280" cy="18288"/>
          </a:xfrm>
          <a:prstGeom prst="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8C7D9"/>
                </a:solidFill>
                <a:latin typeface="Aptos"/>
              </a:defRPr>
            </a:pPr>
            <a:r>
              <a:t>A high-level overview of transaction volume, spend, risk and rewards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52760" y="347472"/>
            <a:ext cx="1005840" cy="347472"/>
          </a:xfrm>
          <a:prstGeom prst="roundRect">
            <a:avLst/>
          </a:prstGeom>
          <a:solidFill>
            <a:srgbClr val="10284E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2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560320" cy="987552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7512" y="1527048"/>
            <a:ext cx="73152" cy="768096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563624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750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29968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Total Transactions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560320" cy="987552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10712" y="1527048"/>
            <a:ext cx="73152" cy="768096"/>
          </a:xfrm>
          <a:prstGeom prst="round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1" y="1563624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₹67.79L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2029968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Total Spend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417320"/>
            <a:ext cx="2560320" cy="987552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53912" y="1527048"/>
            <a:ext cx="73152" cy="768096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1563624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₹9,038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029968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Average Transaction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1417320"/>
            <a:ext cx="2560320" cy="987552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897112" y="1527048"/>
            <a:ext cx="73152" cy="768096"/>
          </a:xfrm>
          <a:prstGeom prst="round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79992" y="1563624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₹1.07L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029968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Total Cashback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651760"/>
            <a:ext cx="2560320" cy="987552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67512" y="2761488"/>
            <a:ext cx="73152" cy="76809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2798064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264408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Unique Customers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2651760"/>
            <a:ext cx="2560320" cy="987552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410712" y="2761488"/>
            <a:ext cx="73152" cy="768096"/>
          </a:xfrm>
          <a:prstGeom prst="roundRect">
            <a:avLst/>
          </a:prstGeom>
          <a:solidFill>
            <a:srgbClr val="F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93591" y="2798064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64 (8.5%)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79" y="3264408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High-Risk Txns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2651760"/>
            <a:ext cx="2560320" cy="987552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153912" y="2761488"/>
            <a:ext cx="73152" cy="768096"/>
          </a:xfrm>
          <a:prstGeom prst="round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36792" y="2798064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35 (4.7%)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264408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Overdue Txns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2651760"/>
            <a:ext cx="2560320" cy="987552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897112" y="2761488"/>
            <a:ext cx="73152" cy="768096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79992" y="2798064"/>
            <a:ext cx="2148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20 (2.7%)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3264408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International Txns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069080"/>
            <a:ext cx="10972800" cy="141732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58952" y="4233672"/>
            <a:ext cx="1463040" cy="256032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4636008"/>
            <a:ext cx="10561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F8FAFC"/>
                </a:solidFill>
                <a:latin typeface="Aptos"/>
              </a:defRPr>
            </a:pPr>
            <a:r>
              <a:t>• Shopping dominates the portfolio with 63.8% of total spend.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t>• Online is the strongest channel with 52.5% spend share.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t>• High-risk transactions are only 8.5% by count but form 30.1% of spend.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56248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8C7D9"/>
                </a:solidFill>
                <a:latin typeface="Aptos"/>
              </a:defRPr>
            </a:pPr>
            <a:r>
              <a:rPr dirty="0"/>
              <a:t>Credit </a:t>
            </a:r>
            <a:r>
              <a:rPr lang="en-IN" dirty="0"/>
              <a:t>C</a:t>
            </a:r>
            <a:r>
              <a:rPr dirty="0" err="1"/>
              <a:t>ard</a:t>
            </a:r>
            <a:r>
              <a:rPr dirty="0"/>
              <a:t> Spending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91999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601200" y="-320040"/>
            <a:ext cx="2926080" cy="1920240"/>
          </a:xfrm>
          <a:prstGeom prst="parallelogram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594360" y="5806440"/>
            <a:ext cx="3749039" cy="155448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37960"/>
            <a:ext cx="11384280" cy="18288"/>
          </a:xfrm>
          <a:prstGeom prst="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Motive of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8C7D9"/>
                </a:solidFill>
                <a:latin typeface="Aptos"/>
              </a:defRPr>
            </a:pPr>
            <a:r>
              <a:t>Why this credit card spending dataset is analyzed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52760" y="347472"/>
            <a:ext cx="1005840" cy="347472"/>
          </a:xfrm>
          <a:prstGeom prst="roundRect">
            <a:avLst/>
          </a:prstGeom>
          <a:solidFill>
            <a:srgbClr val="10284E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2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429000" cy="42519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682496"/>
            <a:ext cx="1965960" cy="256032"/>
          </a:xfrm>
          <a:prstGeom prst="round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WHAT THE DATA COVERS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8803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30">
                <a:solidFill>
                  <a:srgbClr val="B8C7D9"/>
                </a:solidFill>
                <a:latin typeface="Aptos"/>
              </a:defRPr>
            </a:pPr>
            <a:r>
              <a:t>• 750 synthetic credit card transactions</a:t>
            </a:r>
          </a:p>
          <a:p>
            <a:pPr>
              <a:spcAft>
                <a:spcPts val="400"/>
              </a:spcAft>
              <a:defRPr sz="1130">
                <a:solidFill>
                  <a:srgbClr val="B8C7D9"/>
                </a:solidFill>
                <a:latin typeface="Aptos"/>
              </a:defRPr>
            </a:pPr>
            <a:r>
              <a:t>• 120 unique customer IDs</a:t>
            </a:r>
          </a:p>
          <a:p>
            <a:pPr>
              <a:spcAft>
                <a:spcPts val="400"/>
              </a:spcAft>
              <a:defRPr sz="1130">
                <a:solidFill>
                  <a:srgbClr val="B8C7D9"/>
                </a:solidFill>
                <a:latin typeface="Aptos"/>
              </a:defRPr>
            </a:pPr>
            <a:r>
              <a:t>• 20 fields: card type, category, city, channel, amount, rewards, risk and status</a:t>
            </a:r>
          </a:p>
          <a:p>
            <a:pPr>
              <a:spcAft>
                <a:spcPts val="400"/>
              </a:spcAft>
              <a:defRPr sz="1130">
                <a:solidFill>
                  <a:srgbClr val="B8C7D9"/>
                </a:solidFill>
                <a:latin typeface="Aptos"/>
              </a:defRPr>
            </a:pPr>
            <a:r>
              <a:t>• Analysis period: Jul-2025 to Jun-2026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29000" cy="42519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0" y="1682496"/>
            <a:ext cx="1965960" cy="256032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BUSINESS MOTIVE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240280"/>
            <a:ext cx="28803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30">
                <a:solidFill>
                  <a:srgbClr val="B8C7D9"/>
                </a:solidFill>
                <a:latin typeface="Aptos"/>
              </a:defRPr>
            </a:pPr>
            <a:r>
              <a:t>• Understand where customers spend most money</a:t>
            </a:r>
          </a:p>
          <a:p>
            <a:pPr>
              <a:spcAft>
                <a:spcPts val="400"/>
              </a:spcAft>
              <a:defRPr sz="1130">
                <a:solidFill>
                  <a:srgbClr val="B8C7D9"/>
                </a:solidFill>
                <a:latin typeface="Aptos"/>
              </a:defRPr>
            </a:pPr>
            <a:r>
              <a:t>• Identify top card/customer segments</a:t>
            </a:r>
          </a:p>
          <a:p>
            <a:pPr>
              <a:spcAft>
                <a:spcPts val="400"/>
              </a:spcAft>
              <a:defRPr sz="1130">
                <a:solidFill>
                  <a:srgbClr val="B8C7D9"/>
                </a:solidFill>
                <a:latin typeface="Aptos"/>
              </a:defRPr>
            </a:pPr>
            <a:r>
              <a:t>• Monitor risk, overdue and international usage</a:t>
            </a:r>
          </a:p>
          <a:p>
            <a:pPr>
              <a:spcAft>
                <a:spcPts val="400"/>
              </a:spcAft>
              <a:defRPr sz="1130">
                <a:solidFill>
                  <a:srgbClr val="B8C7D9"/>
                </a:solidFill>
                <a:latin typeface="Aptos"/>
              </a:defRPr>
            </a:pPr>
            <a:r>
              <a:t>• Improve cashback, rewards and campaign planning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429000" cy="42519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21040" y="1682496"/>
            <a:ext cx="1965960" cy="256032"/>
          </a:xfrm>
          <a:prstGeom prst="round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ANALYSIS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40280"/>
            <a:ext cx="28803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30">
                <a:solidFill>
                  <a:srgbClr val="B8C7D9"/>
                </a:solidFill>
                <a:latin typeface="Aptos"/>
              </a:defRPr>
            </a:pPr>
            <a:r>
              <a:t>• Aggregate spend by category, month, city and card type</a:t>
            </a:r>
          </a:p>
          <a:p>
            <a:pPr>
              <a:spcAft>
                <a:spcPts val="400"/>
              </a:spcAft>
              <a:defRPr sz="1130">
                <a:solidFill>
                  <a:srgbClr val="B8C7D9"/>
                </a:solidFill>
                <a:latin typeface="Aptos"/>
              </a:defRPr>
            </a:pPr>
            <a:r>
              <a:t>• Compare transaction count vs value</a:t>
            </a:r>
          </a:p>
          <a:p>
            <a:pPr>
              <a:spcAft>
                <a:spcPts val="400"/>
              </a:spcAft>
              <a:defRPr sz="1130">
                <a:solidFill>
                  <a:srgbClr val="B8C7D9"/>
                </a:solidFill>
                <a:latin typeface="Aptos"/>
              </a:defRPr>
            </a:pPr>
            <a:r>
              <a:t>• Evaluate payment channel adoption</a:t>
            </a:r>
          </a:p>
          <a:p>
            <a:pPr>
              <a:spcAft>
                <a:spcPts val="400"/>
              </a:spcAft>
              <a:defRPr sz="1130">
                <a:solidFill>
                  <a:srgbClr val="B8C7D9"/>
                </a:solidFill>
                <a:latin typeface="Aptos"/>
              </a:defRPr>
            </a:pPr>
            <a:r>
              <a:t>• Highlight risk and payment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56248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8C7D9"/>
                </a:solidFill>
                <a:latin typeface="Aptos"/>
              </a:defRPr>
            </a:pPr>
            <a:r>
              <a:t>Credit Card Spending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601200" y="-320040"/>
            <a:ext cx="2926080" cy="1920240"/>
          </a:xfrm>
          <a:prstGeom prst="parallelogram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594360" y="5806440"/>
            <a:ext cx="3749039" cy="155448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37960"/>
            <a:ext cx="11384280" cy="18288"/>
          </a:xfrm>
          <a:prstGeom prst="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Monthly Spending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8C7D9"/>
                </a:solidFill>
                <a:latin typeface="Aptos"/>
              </a:defRPr>
            </a:pPr>
            <a:r>
              <a:t>Spending movement over the 12-month period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52760" y="347472"/>
            <a:ext cx="1005840" cy="347472"/>
          </a:xfrm>
          <a:prstGeom prst="roundRect">
            <a:avLst/>
          </a:prstGeom>
          <a:solidFill>
            <a:srgbClr val="10284E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2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98448"/>
            <a:ext cx="7543800" cy="4572000"/>
          </a:xfrm>
          <a:prstGeom prst="roundRect">
            <a:avLst/>
          </a:prstGeom>
          <a:solidFill>
            <a:srgbClr val="0B1730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08176"/>
            <a:ext cx="7324344" cy="43525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66760" y="1298448"/>
            <a:ext cx="3246120" cy="21945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31352" y="1463039"/>
            <a:ext cx="1463040" cy="256032"/>
          </a:xfrm>
          <a:prstGeom prst="round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TREND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865376"/>
            <a:ext cx="283463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F8FAFC"/>
                </a:solidFill>
                <a:latin typeface="Aptos"/>
              </a:defRPr>
            </a:pPr>
            <a:r>
              <a:t>• Peak month: Oct-2025 with ₹9.64L spend.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t>• October and November record the highest transaction volume: 82 transactions each.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t>• Spend grows again in Mar-2026 and Jun-2026, showing seasonal or campaign-driven spikes.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3703320"/>
            <a:ext cx="3246120" cy="169164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7928" y="3840480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rPr dirty="0"/>
              <a:t>Top 3 Spend Months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531352" y="4206240"/>
          <a:ext cx="2606040" cy="1033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31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Month</a:t>
                      </a:r>
                    </a:p>
                  </a:txBody>
                  <a:tcPr marL="45720" marR="45720" marT="27432" marB="27432">
                    <a:solidFill>
                      <a:srgbClr val="1028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Spend</a:t>
                      </a:r>
                    </a:p>
                  </a:txBody>
                  <a:tcPr marL="45720" marR="45720" marT="27432" marB="27432">
                    <a:solidFill>
                      <a:srgbClr val="1028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Txns</a:t>
                      </a:r>
                    </a:p>
                  </a:txBody>
                  <a:tcPr marL="45720" marR="45720" marT="27432" marB="27432">
                    <a:solidFill>
                      <a:srgbClr val="1028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Oct-2025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₹9.64L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82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Mar-2026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₹7.58L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78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Jun-2026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₹7.56L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rPr dirty="0"/>
                        <a:t>75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6556248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8C7D9"/>
                </a:solidFill>
                <a:latin typeface="Aptos"/>
              </a:defRPr>
            </a:pPr>
            <a:r>
              <a:t>Credit Card Spending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601200" y="-320040"/>
            <a:ext cx="2926080" cy="1920240"/>
          </a:xfrm>
          <a:prstGeom prst="parallelogram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594360" y="5806440"/>
            <a:ext cx="3749039" cy="155448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37960"/>
            <a:ext cx="11384280" cy="18288"/>
          </a:xfrm>
          <a:prstGeom prst="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Category Spending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8C7D9"/>
                </a:solidFill>
                <a:latin typeface="Aptos"/>
              </a:defRPr>
            </a:pPr>
            <a:r>
              <a:t>Which spend categories drive the portfolio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52760" y="347472"/>
            <a:ext cx="1005840" cy="347472"/>
          </a:xfrm>
          <a:prstGeom prst="roundRect">
            <a:avLst/>
          </a:prstGeom>
          <a:solidFill>
            <a:srgbClr val="10284E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2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7543800" cy="4800600"/>
          </a:xfrm>
          <a:prstGeom prst="roundRect">
            <a:avLst/>
          </a:prstGeom>
          <a:solidFill>
            <a:srgbClr val="0B1730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tegory_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44168"/>
            <a:ext cx="7324344" cy="45811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366760" y="1234440"/>
            <a:ext cx="3246120" cy="24231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31352" y="1399032"/>
            <a:ext cx="1463040" cy="256032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CATEGORY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801368"/>
            <a:ext cx="28346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F8FAFC"/>
                </a:solidFill>
                <a:latin typeface="Aptos"/>
              </a:defRPr>
            </a:pPr>
            <a:r>
              <a:t>• Shopping is the largest category: ₹43.24L (63.8% of total spend).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t>• Travel is the second-largest category with ₹8.13L.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t>• Shopping also contributes most of the high-risk transactions.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3886200"/>
            <a:ext cx="3246120" cy="178308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7928" y="4023360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t>Top Categories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531352" y="4389120"/>
          <a:ext cx="2834640" cy="1124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94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marL="45720" marR="45720" marT="27432" marB="27432">
                    <a:solidFill>
                      <a:srgbClr val="1028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Spend</a:t>
                      </a:r>
                    </a:p>
                  </a:txBody>
                  <a:tcPr marL="45720" marR="45720" marT="27432" marB="27432">
                    <a:solidFill>
                      <a:srgbClr val="1028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Aptos"/>
                        </a:defRPr>
                      </a:pPr>
                      <a:r>
                        <a:t>Avg Txn</a:t>
                      </a:r>
                    </a:p>
                  </a:txBody>
                  <a:tcPr marL="45720" marR="45720" marT="27432" marB="27432">
                    <a:solidFill>
                      <a:srgbClr val="1028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942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Shopping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₹43.24L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₹26,527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942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Travel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₹8.13L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₹11,286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942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Healthcare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₹3.46L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₹6,066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944"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Education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₹2.83L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0">
                          <a:solidFill>
                            <a:srgbClr val="B8C7D9"/>
                          </a:solidFill>
                          <a:latin typeface="Aptos"/>
                        </a:defRPr>
                      </a:pPr>
                      <a:r>
                        <a:t>₹10,110</a:t>
                      </a:r>
                    </a:p>
                  </a:txBody>
                  <a:tcPr marL="45720" marR="45720" marT="27432" marB="27432">
                    <a:solidFill>
                      <a:srgbClr val="0B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6556248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8C7D9"/>
                </a:solidFill>
                <a:latin typeface="Aptos"/>
              </a:defRPr>
            </a:pPr>
            <a:r>
              <a:t>Credit Card Spending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"/>
            <a:ext cx="12191999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601200" y="-320040"/>
            <a:ext cx="2926080" cy="1920240"/>
          </a:xfrm>
          <a:prstGeom prst="parallelogram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594360" y="5806440"/>
            <a:ext cx="3749039" cy="155448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37960"/>
            <a:ext cx="11384280" cy="18288"/>
          </a:xfrm>
          <a:prstGeom prst="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Card Type &amp; Payment Channel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8C7D9"/>
                </a:solidFill>
                <a:latin typeface="Aptos"/>
              </a:defRPr>
            </a:pPr>
            <a:r>
              <a:t>How spending changes by card tier and channel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52760" y="347472"/>
            <a:ext cx="1005840" cy="347472"/>
          </a:xfrm>
          <a:prstGeom prst="roundRect">
            <a:avLst/>
          </a:prstGeom>
          <a:solidFill>
            <a:srgbClr val="10284E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2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61872"/>
            <a:ext cx="5669280" cy="4389120"/>
          </a:xfrm>
          <a:prstGeom prst="roundRect">
            <a:avLst/>
          </a:prstGeom>
          <a:solidFill>
            <a:srgbClr val="0B1730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rd_typ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71600"/>
            <a:ext cx="5449824" cy="416966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46520" y="1271016"/>
            <a:ext cx="5166360" cy="4389120"/>
          </a:xfrm>
          <a:prstGeom prst="roundRect">
            <a:avLst/>
          </a:prstGeom>
          <a:solidFill>
            <a:srgbClr val="0B1730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ayment_channel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371600"/>
            <a:ext cx="4946904" cy="416966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5715000"/>
            <a:ext cx="11018520" cy="73152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5879592"/>
            <a:ext cx="1463040" cy="256032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PERFORMANCE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5780610"/>
            <a:ext cx="10607040" cy="71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F8FAFC"/>
                </a:solidFill>
                <a:latin typeface="Aptos"/>
              </a:defRPr>
            </a:pPr>
            <a:r>
              <a:rPr dirty="0"/>
              <a:t>• Platinum contributes the highest spend: ₹22.29L (32.9%).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rPr dirty="0"/>
              <a:t>• Signature has the highest average transaction value: ₹10,296.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rPr dirty="0"/>
              <a:t>• Online channel leads with 52.5% spend and 43.3% transactions.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6729984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8C7D9"/>
                </a:solidFill>
                <a:latin typeface="Aptos"/>
              </a:defRPr>
            </a:pPr>
            <a:r>
              <a:t>Credit Card Spending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601200" y="-320040"/>
            <a:ext cx="2926080" cy="1920240"/>
          </a:xfrm>
          <a:prstGeom prst="parallelogram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594360" y="5806440"/>
            <a:ext cx="3749039" cy="155448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37960"/>
            <a:ext cx="11384280" cy="18288"/>
          </a:xfrm>
          <a:prstGeom prst="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Customer Demographics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8C7D9"/>
                </a:solidFill>
                <a:latin typeface="Aptos"/>
              </a:defRPr>
            </a:pPr>
            <a:r>
              <a:t>Spend contribution by age group and gender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52760" y="347472"/>
            <a:ext cx="1005840" cy="347472"/>
          </a:xfrm>
          <a:prstGeom prst="roundRect">
            <a:avLst/>
          </a:prstGeom>
          <a:solidFill>
            <a:srgbClr val="10284E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2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61872"/>
            <a:ext cx="6492240" cy="4343400"/>
          </a:xfrm>
          <a:prstGeom prst="roundRect">
            <a:avLst/>
          </a:prstGeom>
          <a:solidFill>
            <a:srgbClr val="0B1730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ge_group_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71600"/>
            <a:ext cx="6272783" cy="41239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33488" y="1261872"/>
            <a:ext cx="4297680" cy="434340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43800" y="1536192"/>
            <a:ext cx="1463040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GENDER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057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Male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075688"/>
            <a:ext cx="2194560" cy="219456"/>
          </a:xfrm>
          <a:prstGeom prst="round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58200" y="2075688"/>
            <a:ext cx="1250581" cy="219456"/>
          </a:xfrm>
          <a:prstGeom prst="round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0" y="23134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C7D9"/>
                </a:solidFill>
                <a:latin typeface="Aptos"/>
              </a:defRPr>
            </a:pPr>
            <a:r>
              <a:t>₹38.63L (57.0%)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2834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Female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2852928"/>
            <a:ext cx="2194560" cy="219456"/>
          </a:xfrm>
          <a:prstGeom prst="round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58200" y="2852928"/>
            <a:ext cx="839504" cy="219456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3090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C7D9"/>
                </a:solidFill>
                <a:latin typeface="Aptos"/>
              </a:defRPr>
            </a:pPr>
            <a:r>
              <a:t>₹25.93L (38.3%)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3611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t>Other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3630168"/>
            <a:ext cx="2194560" cy="219456"/>
          </a:xfrm>
          <a:prstGeom prst="roundRect">
            <a:avLst/>
          </a:prstGeom>
          <a:solidFill>
            <a:srgbClr val="0B1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58200" y="3630168"/>
            <a:ext cx="104474" cy="219456"/>
          </a:xfrm>
          <a:prstGeom prst="round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0" y="3867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8C7D9"/>
                </a:solidFill>
                <a:latin typeface="Aptos"/>
              </a:defRPr>
            </a:pPr>
            <a:r>
              <a:t>₹3.23L (4.8%)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715000"/>
            <a:ext cx="11018520" cy="77724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58952" y="5879592"/>
            <a:ext cx="1463040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DEMOGRAPHIC FINDINGS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69819" y="5769864"/>
            <a:ext cx="106070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F8FAFC"/>
                </a:solidFill>
                <a:latin typeface="Aptos"/>
              </a:defRPr>
            </a:pPr>
            <a:r>
              <a:rPr dirty="0"/>
              <a:t>• 26-35 age group has the highest spend: ₹26.28L (38.8%).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rPr dirty="0"/>
              <a:t>• 36-45 is the second strongest segment with ₹22.32L.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rPr dirty="0"/>
              <a:t>• Male customers contribute ₹38.63L; female customers contribute ₹25.93L.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56248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8C7D9"/>
                </a:solidFill>
                <a:latin typeface="Aptos"/>
              </a:defRPr>
            </a:pPr>
            <a:r>
              <a:t>Credit Card Spending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601200" y="-320040"/>
            <a:ext cx="2926080" cy="1920240"/>
          </a:xfrm>
          <a:prstGeom prst="parallelogram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594360" y="5806440"/>
            <a:ext cx="3749039" cy="155448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City &amp; Merchant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8C7D9"/>
                </a:solidFill>
                <a:latin typeface="Aptos"/>
              </a:defRPr>
            </a:pPr>
            <a:r>
              <a:t>Where spend is concentrated geographically and commercially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52760" y="347472"/>
            <a:ext cx="1005840" cy="347472"/>
          </a:xfrm>
          <a:prstGeom prst="roundRect">
            <a:avLst/>
          </a:prstGeom>
          <a:solidFill>
            <a:srgbClr val="10284E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2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623560" cy="4709160"/>
          </a:xfrm>
          <a:prstGeom prst="roundRect">
            <a:avLst/>
          </a:prstGeom>
          <a:solidFill>
            <a:srgbClr val="0B1730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ity_s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44168"/>
            <a:ext cx="5404104" cy="448970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46520" y="1234440"/>
            <a:ext cx="5166360" cy="4709160"/>
          </a:xfrm>
          <a:prstGeom prst="roundRect">
            <a:avLst/>
          </a:prstGeom>
          <a:solidFill>
            <a:srgbClr val="0B1730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erchant_sp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344168"/>
            <a:ext cx="4946904" cy="448970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5989320"/>
            <a:ext cx="11018520" cy="653796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6153912"/>
            <a:ext cx="1463040" cy="256032"/>
          </a:xfrm>
          <a:prstGeom prst="round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LOCATION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5989320"/>
            <a:ext cx="106070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F8FAFC"/>
                </a:solidFill>
                <a:latin typeface="Aptos"/>
              </a:defRPr>
            </a:pPr>
            <a:r>
              <a:rPr dirty="0"/>
              <a:t>• Mumbai is the top city with ₹14.83L (21.9% share).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rPr dirty="0"/>
              <a:t>• Chandigarh has a high average transaction value: ₹10,147.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rPr dirty="0"/>
              <a:t>• Top merchants help identify campaign partners and high-value customer touchpoints.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" y="6752844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8C7D9"/>
                </a:solidFill>
                <a:latin typeface="Aptos"/>
              </a:defRPr>
            </a:pPr>
            <a:r>
              <a:rPr dirty="0"/>
              <a:t>Credit Card Spending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601200" y="-320040"/>
            <a:ext cx="2926080" cy="1920240"/>
          </a:xfrm>
          <a:prstGeom prst="parallelogram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594360" y="5806440"/>
            <a:ext cx="3749039" cy="155448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37960"/>
            <a:ext cx="11384280" cy="18288"/>
          </a:xfrm>
          <a:prstGeom prst="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Risk &amp; Payment Behavior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8C7D9"/>
                </a:solidFill>
                <a:latin typeface="Aptos"/>
              </a:defRPr>
            </a:pPr>
            <a:r>
              <a:t>Monitoring risk flags and payment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52760" y="347472"/>
            <a:ext cx="1005840" cy="347472"/>
          </a:xfrm>
          <a:prstGeom prst="roundRect">
            <a:avLst/>
          </a:prstGeom>
          <a:solidFill>
            <a:srgbClr val="10284E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2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120640" cy="4526280"/>
          </a:xfrm>
          <a:prstGeom prst="roundRect">
            <a:avLst/>
          </a:prstGeom>
          <a:solidFill>
            <a:srgbClr val="0B1730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isk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44168"/>
            <a:ext cx="4901183" cy="43068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1234440"/>
            <a:ext cx="5669280" cy="4526280"/>
          </a:xfrm>
          <a:prstGeom prst="roundRect">
            <a:avLst/>
          </a:prstGeom>
          <a:solidFill>
            <a:srgbClr val="0B1730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risk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344168"/>
            <a:ext cx="5449824" cy="43068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94360" y="5833872"/>
            <a:ext cx="11018520" cy="64008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5998464"/>
            <a:ext cx="1463040" cy="256032"/>
          </a:xfrm>
          <a:prstGeom prst="roundRect">
            <a:avLst/>
          </a:prstGeom>
          <a:solidFill>
            <a:srgbClr val="F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RISK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5833872"/>
            <a:ext cx="106070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F8FAFC"/>
                </a:solidFill>
                <a:latin typeface="Aptos"/>
              </a:defRPr>
            </a:pPr>
            <a:r>
              <a:rPr dirty="0"/>
              <a:t>• High-risk transactions: 64 (8.5%) but spend value is ₹20.39L.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rPr dirty="0"/>
              <a:t>• High-risk spend forms 30.1% of total spend, so value exposure is much higher than count exposure.</a:t>
            </a:r>
          </a:p>
          <a:p>
            <a:pPr>
              <a:spcAft>
                <a:spcPts val="500"/>
              </a:spcAft>
              <a:defRPr sz="1080">
                <a:solidFill>
                  <a:srgbClr val="B8C7D9"/>
                </a:solidFill>
                <a:latin typeface="Aptos"/>
              </a:defRPr>
            </a:pPr>
            <a:r>
              <a:rPr dirty="0"/>
              <a:t>• Overdue transactions: 35 (4.7%); paid transactions are 616 (82.1%).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56248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8C7D9"/>
                </a:solidFill>
                <a:latin typeface="Aptos"/>
              </a:defRPr>
            </a:pPr>
            <a:r>
              <a:t>Credit Card Spending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601200" y="-320040"/>
            <a:ext cx="2926080" cy="1920240"/>
          </a:xfrm>
          <a:prstGeom prst="parallelogram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594360" y="5806440"/>
            <a:ext cx="3749039" cy="155448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37960"/>
            <a:ext cx="11384280" cy="18288"/>
          </a:xfrm>
          <a:prstGeom prst="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Cashback &amp; Rewards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8C7D9"/>
                </a:solidFill>
                <a:latin typeface="Aptos"/>
              </a:defRPr>
            </a:pPr>
            <a:r>
              <a:t>Reward cost and category contribution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52760" y="347472"/>
            <a:ext cx="1005840" cy="347472"/>
          </a:xfrm>
          <a:prstGeom prst="roundRect">
            <a:avLst/>
          </a:prstGeom>
          <a:solidFill>
            <a:srgbClr val="10284E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2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6446520" cy="4709160"/>
          </a:xfrm>
          <a:prstGeom prst="roundRect">
            <a:avLst/>
          </a:prstGeom>
          <a:solidFill>
            <a:srgbClr val="0B1730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ashback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344168"/>
            <a:ext cx="6227064" cy="448970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69480" y="1234440"/>
            <a:ext cx="4343400" cy="47091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79" y="1508760"/>
            <a:ext cx="1463040" cy="256032"/>
          </a:xfrm>
          <a:prstGeom prst="round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REWARD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920240"/>
            <a:ext cx="1737360" cy="8229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16952" y="2029968"/>
            <a:ext cx="73152" cy="603504"/>
          </a:xfrm>
          <a:prstGeom prst="round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9831" y="206654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₹1.07L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5328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Total Cashback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920240"/>
            <a:ext cx="1737360" cy="8229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537192" y="2029968"/>
            <a:ext cx="73152" cy="603504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20072" y="206654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1.58%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25328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Cashback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2926080"/>
            <a:ext cx="1737360" cy="8229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16952" y="3035808"/>
            <a:ext cx="73152" cy="603504"/>
          </a:xfrm>
          <a:prstGeom prst="round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99831" y="307238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96,505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53872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Reward Points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4040" y="2926080"/>
            <a:ext cx="1737360" cy="8229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537192" y="3035808"/>
            <a:ext cx="73152" cy="60350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20072" y="307238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Shopping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53872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B8C7D9"/>
                </a:solidFill>
                <a:latin typeface="Aptos"/>
              </a:defRPr>
            </a:pPr>
            <a:r>
              <a:t>Top Cashback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1" y="4069080"/>
            <a:ext cx="3611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B8C7D9"/>
                </a:solidFill>
                <a:latin typeface="Aptos"/>
              </a:defRPr>
            </a:pPr>
            <a:r>
              <a:t>• Shopping generates 64.2% of total cashback.</a:t>
            </a:r>
          </a:p>
          <a:p>
            <a:pPr>
              <a:spcAft>
                <a:spcPts val="400"/>
              </a:spcAft>
              <a:defRPr sz="1040">
                <a:solidFill>
                  <a:srgbClr val="B8C7D9"/>
                </a:solidFill>
                <a:latin typeface="Aptos"/>
              </a:defRPr>
            </a:pPr>
            <a:r>
              <a:t>• Cashback spend should be watched because a high concentration may reduce profitability.</a:t>
            </a:r>
          </a:p>
          <a:p>
            <a:pPr>
              <a:spcAft>
                <a:spcPts val="400"/>
              </a:spcAft>
              <a:defRPr sz="1040">
                <a:solidFill>
                  <a:srgbClr val="B8C7D9"/>
                </a:solidFill>
                <a:latin typeface="Aptos"/>
              </a:defRPr>
            </a:pPr>
            <a:r>
              <a:t>• Reward optimization can target high-value categories while keeping risk control.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56248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8C7D9"/>
                </a:solidFill>
                <a:latin typeface="Aptos"/>
              </a:defRPr>
            </a:pPr>
            <a:r>
              <a:t>Credit Card Spending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601200" y="-320040"/>
            <a:ext cx="2926080" cy="1920240"/>
          </a:xfrm>
          <a:prstGeom prst="parallelogram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594360" y="5806440"/>
            <a:ext cx="3749039" cy="155448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37960"/>
            <a:ext cx="11384280" cy="18288"/>
          </a:xfrm>
          <a:prstGeom prst="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Overall Findings from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8C7D9"/>
                </a:solidFill>
                <a:latin typeface="Aptos"/>
              </a:defRPr>
            </a:pPr>
            <a:r>
              <a:t>What the dataset reveals after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52760" y="347472"/>
            <a:ext cx="1005840" cy="347472"/>
          </a:xfrm>
          <a:prstGeom prst="roundRect">
            <a:avLst/>
          </a:prstGeom>
          <a:solidFill>
            <a:srgbClr val="10284E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2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3429000" cy="1874519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5528" y="1490472"/>
            <a:ext cx="1463040" cy="256032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SPEND 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01952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B8C7D9"/>
                </a:solidFill>
                <a:latin typeface="Aptos"/>
              </a:defRPr>
            </a:pPr>
            <a:r>
              <a:t>Shopping is the main spend driver with ₹43.24L, almost 63.8% of total spend.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429000" cy="1874519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44568" y="1490472"/>
            <a:ext cx="1463040" cy="256032"/>
          </a:xfrm>
          <a:prstGeom prst="round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PEAK 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01952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B8C7D9"/>
                </a:solidFill>
                <a:latin typeface="Aptos"/>
              </a:defRPr>
            </a:pPr>
            <a:r>
              <a:t>Oct-2025 is the highest spend month at ₹9.64L; Oct-Nov show strongest activity.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429000" cy="1874519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93608" y="1490472"/>
            <a:ext cx="1463040" cy="256032"/>
          </a:xfrm>
          <a:prstGeom prst="round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CHANNEL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1901952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B8C7D9"/>
                </a:solidFill>
                <a:latin typeface="Aptos"/>
              </a:defRPr>
            </a:pPr>
            <a:r>
              <a:t>Online has the largest share: ₹35.60L spend and 325 transactions.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66160"/>
            <a:ext cx="3429000" cy="1874519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5528" y="3730752"/>
            <a:ext cx="1463040" cy="256032"/>
          </a:xfrm>
          <a:prstGeom prst="round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CUSTOMER SEGMENT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142232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B8C7D9"/>
                </a:solidFill>
                <a:latin typeface="Aptos"/>
              </a:defRPr>
            </a:pPr>
            <a:r>
              <a:t>26-35 and 36-45 age groups together drive 71.7% of spend.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566160"/>
            <a:ext cx="3429000" cy="1874519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44568" y="3730752"/>
            <a:ext cx="1463040" cy="256032"/>
          </a:xfrm>
          <a:prstGeom prst="roundRect">
            <a:avLst/>
          </a:prstGeom>
          <a:solidFill>
            <a:srgbClr val="F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RISK 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142232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B8C7D9"/>
                </a:solidFill>
                <a:latin typeface="Aptos"/>
              </a:defRPr>
            </a:pPr>
            <a:r>
              <a:t>High-risk transactions are only 8.5% by count, but 30.1% by spend.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566160"/>
            <a:ext cx="3429000" cy="1874519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93608" y="3730752"/>
            <a:ext cx="1463040" cy="25603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PORTFOLIO 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4142232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B8C7D9"/>
                </a:solidFill>
                <a:latin typeface="Aptos"/>
              </a:defRPr>
            </a:pPr>
            <a:r>
              <a:t>Paid transactions form 82.1% of total volume; overdue cases need focused follow-up.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56248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8C7D9"/>
                </a:solidFill>
                <a:latin typeface="Aptos"/>
              </a:defRPr>
            </a:pPr>
            <a:r>
              <a:t>Credit Card Spending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601200" y="-320040"/>
            <a:ext cx="2926080" cy="1920240"/>
          </a:xfrm>
          <a:prstGeom prst="parallelogram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-594360" y="5806440"/>
            <a:ext cx="3749039" cy="155448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37960"/>
            <a:ext cx="11384280" cy="18288"/>
          </a:xfrm>
          <a:prstGeom prst="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10896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Conclusion, Motive &amp; Overall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841248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8C7D9"/>
                </a:solidFill>
                <a:latin typeface="Aptos"/>
              </a:defRPr>
            </a:pPr>
            <a:r>
              <a:t>Final interpretation of the credit card spending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52760" y="347472"/>
            <a:ext cx="1005840" cy="347472"/>
          </a:xfrm>
          <a:prstGeom prst="roundRect">
            <a:avLst/>
          </a:prstGeom>
          <a:solidFill>
            <a:srgbClr val="10284E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C2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61872"/>
            <a:ext cx="5257800" cy="19659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3816" y="1463039"/>
            <a:ext cx="1463040" cy="256032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MOTIVE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1883664"/>
            <a:ext cx="4709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Analyze customer spending behavior</a:t>
            </a:r>
          </a:p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Find high-value categories, cities and card types</a:t>
            </a:r>
          </a:p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Understand risk and payment health</a:t>
            </a:r>
          </a:p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Support dashboard/reporting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261872"/>
            <a:ext cx="5257800" cy="19659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149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9944" y="1463039"/>
            <a:ext cx="1463040" cy="256032"/>
          </a:xfrm>
          <a:prstGeom prst="roundRect">
            <a:avLst/>
          </a:prstGeom>
          <a:solidFill>
            <a:srgbClr val="149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OVERALL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1883664"/>
            <a:ext cx="4709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750 transactions and ₹67.79L total spend</a:t>
            </a:r>
          </a:p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Average transaction: ₹9,038</a:t>
            </a:r>
          </a:p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Top segment: 26-35 age group</a:t>
            </a:r>
          </a:p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Top channel: Online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21024"/>
            <a:ext cx="5257800" cy="19659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F7B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3816" y="3822191"/>
            <a:ext cx="1463040" cy="256032"/>
          </a:xfrm>
          <a:prstGeom prst="roundRect">
            <a:avLst/>
          </a:prstGeom>
          <a:solidFill>
            <a:srgbClr val="F7B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CONCLUSIONS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4242816"/>
            <a:ext cx="4709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Spending is highly concentrated in Shopping</a:t>
            </a:r>
          </a:p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Online payments are the strongest customer behavior</a:t>
            </a:r>
          </a:p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High-risk transactions are low in count but high in value</a:t>
            </a:r>
          </a:p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Reward/cashback strategy needs careful monitoring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3621024"/>
            <a:ext cx="5257800" cy="1965960"/>
          </a:xfrm>
          <a:prstGeom prst="roundRect">
            <a:avLst/>
          </a:prstGeom>
          <a:solidFill>
            <a:srgbClr val="0D1D3A"/>
          </a:solidFill>
          <a:ln w="9525">
            <a:solidFill>
              <a:srgbClr val="FF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9944" y="3822191"/>
            <a:ext cx="1463040" cy="256032"/>
          </a:xfrm>
          <a:prstGeom prst="roundRect">
            <a:avLst/>
          </a:prstGeom>
          <a:solidFill>
            <a:srgbClr val="FF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30" b="1">
                <a:solidFill>
                  <a:srgbClr val="04111E"/>
                </a:solidFill>
                <a:latin typeface="Aptos"/>
              </a:defRPr>
            </a:pPr>
            <a:r>
              <a:t>RECOMMENDED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4242816"/>
            <a:ext cx="4709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Create targeted offers for Shopping and Travel</a:t>
            </a:r>
          </a:p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Promote online/card-tier campaigns for Platinum and Gold users</a:t>
            </a:r>
          </a:p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Track high-risk shopping transactions more closely</a:t>
            </a:r>
          </a:p>
          <a:p>
            <a:pPr>
              <a:spcAft>
                <a:spcPts val="400"/>
              </a:spcAft>
              <a:defRPr sz="1019">
                <a:solidFill>
                  <a:srgbClr val="B8C7D9"/>
                </a:solidFill>
                <a:latin typeface="Aptos"/>
              </a:defRPr>
            </a:pPr>
            <a:r>
              <a:t>• Reduce overdue transactions with reminders and follow-up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72200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60" b="1">
                <a:solidFill>
                  <a:srgbClr val="F8FAFC"/>
                </a:solidFill>
                <a:latin typeface="Aptos"/>
              </a:defRPr>
            </a:pPr>
            <a:r>
              <a:rPr dirty="0"/>
              <a:t>This presentation converts the dataset into actionable business insights for credit card portfolio monitoring, campaign planning, and risk control.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56248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8C7D9"/>
                </a:solidFill>
                <a:latin typeface="Aptos"/>
              </a:defRPr>
            </a:pPr>
            <a:r>
              <a:t>Credit Card Spending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995</Words>
  <Application>Microsoft Office PowerPoint</Application>
  <PresentationFormat>Widescreen</PresentationFormat>
  <Paragraphs>193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Pritam Manik</cp:lastModifiedBy>
  <cp:revision>2</cp:revision>
  <dcterms:created xsi:type="dcterms:W3CDTF">2013-01-27T09:14:16Z</dcterms:created>
  <dcterms:modified xsi:type="dcterms:W3CDTF">2026-07-03T09:51:26Z</dcterms:modified>
  <cp:category/>
</cp:coreProperties>
</file>